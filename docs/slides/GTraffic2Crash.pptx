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forecast the whole grid instead of training a crash classifier directly?</a:t>
            </a:r>
          </a:p>
          <a:p/>
          <a:p>
            <a:r>
              <a:t>A crash label is one bit at one instant. It is rare, it arrives too late to be</a:t>
            </a:r>
          </a:p>
          <a:p>
            <a:r>
              <a:t>useful, and a model trained on it learns a shortcut — "two blobs are close" —</a:t>
            </a:r>
          </a:p>
          <a:p>
            <a:r>
              <a:t>rather than dynamics. A forecast is dense supervision: every cell, at every</a:t>
            </a:r>
          </a:p>
          <a:p>
            <a:r>
              <a:t>future step. A model that can say where every vehicle will be in three seconds</a:t>
            </a:r>
          </a:p>
          <a:p>
            <a:r>
              <a:t>has necessarily learned what a crash predictor needs, and crash anticipation</a:t>
            </a:r>
          </a:p>
          <a:p>
            <a:r>
              <a:t>then falls out as a read-out of the forecast, with no retraining.</a:t>
            </a:r>
          </a:p>
          <a:p/>
          <a:p>
            <a:r>
              <a:t>Why five seconds: the interval between "this looks wrong" and impact is</a:t>
            </a:r>
          </a:p>
          <a:p>
            <a:r>
              <a:t>typically one to three seconds, so a five-second horizon covers it with margin.</a:t>
            </a:r>
          </a:p>
          <a:p/>
          <a:p>
            <a:r>
              <a:t>The input format is exactly what the existing camera model already produces, so</a:t>
            </a:r>
          </a:p>
          <a:p>
            <a:r>
              <a:t>nothing here requires new roadside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simulated: we need ground truth for every vehicle at every instant, and we</a:t>
            </a:r>
          </a:p>
          <a:p>
            <a:r>
              <a:t>need crashes on demand. Neither is collectable at scale on real roads.</a:t>
            </a:r>
          </a:p>
          <a:p/>
          <a:p>
            <a:r>
              <a:t>Bad actors are produced by setting CARLA's Traffic Manager per vehicle — a</a:t>
            </a:r>
          </a:p>
          <a:p>
            <a:r>
              <a:t>fraction of drivers speed, ignore red lights, or weave. Collisions emerge from</a:t>
            </a:r>
          </a:p>
          <a:p>
            <a:r>
              <a:t>that rather than being scripted, so the near-misses are realistic too.</a:t>
            </a:r>
          </a:p>
          <a:p/>
          <a:p>
            <a:r>
              <a:t>Why soft coverage rather than a yes/no flag: 4 m is coarse relative to a car,</a:t>
            </a:r>
          </a:p>
          <a:p>
            <a:r>
              <a:t>but a car straddling a cell boundary splits its area between the two cells in</a:t>
            </a:r>
          </a:p>
          <a:p>
            <a:r>
              <a:t>proportion, so sub-cell position — and therefore velocity between frames —</a:t>
            </a:r>
          </a:p>
          <a:p>
            <a:r>
              <a:t>survives. A binary grid at 4 m would destroy that and force a much finer, much</a:t>
            </a:r>
          </a:p>
          <a:p>
            <a:r>
              <a:t>more expensive raster. The rasteriser computes the exact rotated-rectangle /</a:t>
            </a:r>
          </a:p>
          <a:p>
            <a:r>
              <a:t>cell intersection by polygon clipping; it is accurate to 3e-8 square metres.</a:t>
            </a:r>
          </a:p>
          <a:p/>
          <a:p>
            <a:r>
              <a:t>The split is by episode, not by window, so no frame from a training episode can</a:t>
            </a:r>
          </a:p>
          <a:p>
            <a:r>
              <a:t>leak into validation through an overlapping window.</a:t>
            </a:r>
          </a:p>
          <a:p/>
          <a:p>
            <a:r>
              <a:t>The 2 % occupancy figure is the reason the loss needed care — see the next</a:t>
            </a:r>
          </a:p>
          <a:p>
            <a:r>
              <a:t>slide. It is also why the baseline "repeat the last frame" is strong: half the</a:t>
            </a:r>
          </a:p>
          <a:p>
            <a:r>
              <a:t>town is stopped at any moment because of the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Architecture. A convolutional stem reads each frame at full resolution and</a:t>
            </a:r>
          </a:p>
          <a:p>
            <a:r>
              <a:t>halves it twice, giving 72 x 80 tokens per frame. Twelve axial-attention</a:t>
            </a:r>
          </a:p>
          <a:p>
            <a:r>
              <a:t>encoder blocks follow: each attends along time, then along rows, then along</a:t>
            </a:r>
          </a:p>
          <a:p>
            <a:r>
              <a:t>columns, plus a handful of global vectors that let any part of the town</a:t>
            </a:r>
          </a:p>
          <a:p>
            <a:r>
              <a:t>influence any other. Eight decoder blocks cross-attend to that memory and emit</a:t>
            </a:r>
          </a:p>
          <a:p>
            <a:r>
              <a:t>all ten future frames in parallel.</a:t>
            </a:r>
          </a:p>
          <a:p/>
          <a:p>
            <a:r>
              <a:t>Two findings from the literature drove this. OpenSTL (NeurIPS 2023) shows that</a:t>
            </a:r>
          </a:p>
          <a:p>
            <a:r>
              <a:t>on low-frequency grid data — TaxiBJ, the closest public analogue — the best</a:t>
            </a:r>
          </a:p>
          <a:p>
            <a:r>
              <a:t>recurrent-free model matches the best recurrent one at one twenty-sixth of the</a:t>
            </a:r>
          </a:p>
          <a:p>
            <a:r>
              <a:t>compute. Earthformer (NeurIPS 2022) ablates seven space-time attention</a:t>
            </a:r>
          </a:p>
          <a:p>
            <a:r>
              <a:t>factorisations under identical conditions and axial-plus-global-vectors wins on</a:t>
            </a:r>
          </a:p>
          <a:p>
            <a:r>
              <a:t>every metric while being near-cheapest.</a:t>
            </a:r>
          </a:p>
          <a:p/>
          <a:p>
            <a:r>
              <a:t>Residual-from-last: the network is initialised so that it predicts "nothing</a:t>
            </a:r>
          </a:p>
          <a:p>
            <a:r>
              <a:t>moves" exactly, and learns only the change. Its capacity therefore goes on what</a:t>
            </a:r>
          </a:p>
          <a:p>
            <a:r>
              <a:t>actually moves rather than on redrawing the static scene.</a:t>
            </a:r>
          </a:p>
          <a:p/>
          <a:p>
            <a:r>
              <a:t>The loss in full: L = L_occ + 0.5 L_flow + 0.5 L_trace + 0.001 L_count.</a:t>
            </a:r>
          </a:p>
          <a:p>
            <a:r>
              <a:t>- L_occ is per-cell soft cross-entropy, weighted 10:1 near a vehicle, with the</a:t>
            </a:r>
          </a:p>
          <a:p>
            <a:r>
              <a:t>  output bias initialised to the measured 1.5 % occupancy prior so that 98 %</a:t>
            </a:r>
          </a:p>
          <a:p>
            <a:r>
              <a:t>  empty cells do not swamp the gradient at step zero.</a:t>
            </a:r>
          </a:p>
          <a:p>
            <a:r>
              <a:t>- L_flow is L1 against the true velocity on occupied cells.</a:t>
            </a:r>
          </a:p>
          <a:p>
            <a:r>
              <a:t>- L_trace warps the observed occupancy along the predicted flow and requires it</a:t>
            </a:r>
          </a:p>
          <a:p>
            <a:r>
              <a:t>  to reproduce the next frame. This is the term that carries the physics.</a:t>
            </a:r>
          </a:p>
          <a:p>
            <a:r>
              <a:t>- L_count requires total predicted mass to match the true vehicle count, per</a:t>
            </a:r>
          </a:p>
          <a:p>
            <a:r>
              <a:t>  frame and per class. A weighted cross-entropy is no longer strictly proper, so</a:t>
            </a:r>
          </a:p>
          <a:p>
            <a:r>
              <a:t>  it drifts; this corrects the drift in the one summary statistic that is</a:t>
            </a:r>
          </a:p>
          <a:p>
            <a:r>
              <a:t>  physically meaningful.</a:t>
            </a:r>
          </a:p>
          <a:p/>
          <a:p>
            <a:r>
              <a:t>Ruled out, with evidence: soft Dice, IoU and Tversky are provably not minimised</a:t>
            </a:r>
          </a:p>
          <a:p>
            <a:r>
              <a:t>at the truth for fractional targets (Wang et al., MICCAI 2023) — with y = 0.5</a:t>
            </a:r>
          </a:p>
          <a:p>
            <a:r>
              <a:t>soft Dice is minimised at x = 1, so every partially covered cell would be pushed</a:t>
            </a:r>
          </a:p>
          <a:p>
            <a:r>
              <a:t>to full and the vehicle count inflated. Lovasz-softmax is undefined for soft</a:t>
            </a:r>
          </a:p>
          <a:p>
            <a:r>
              <a:t>labels. Focal loss is not strictly proper for any gamma &gt; 0 (Charoenphakdee</a:t>
            </a:r>
          </a:p>
          <a:p>
            <a:r>
              <a:t>et al.) and its bias direction is under-confidence, which here means losing</a:t>
            </a:r>
          </a:p>
          <a:p>
            <a:r>
              <a:t>vehicles.</a:t>
            </a:r>
          </a:p>
          <a:p/>
          <a:p>
            <a:r>
              <a:t>Velocity is an output and never an input: feeding ground-truth velocity in would</a:t>
            </a:r>
          </a:p>
          <a:p>
            <a:r>
              <a:t>give the model information it will not have at deployment and would make every</a:t>
            </a:r>
          </a:p>
          <a:p>
            <a:r>
              <a:t>number on the next slide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 IoU here is the sum of min(prediction, truth) divided by the sum of</a:t>
            </a:r>
          </a:p>
          <a:p>
            <a:r>
              <a:t>max(prediction, truth) over every valid cell — 1.0 would be a perfect forecast.</a:t>
            </a:r>
          </a:p>
          <a:p>
            <a:r>
              <a:t>It is computed on the fractional coverage directly, with no thresholding, and</a:t>
            </a:r>
          </a:p>
          <a:p>
            <a:r>
              <a:t>the padded cells outside the town are excluded so that trivially empty area</a:t>
            </a:r>
          </a:p>
          <a:p>
            <a:r>
              <a:t>cannot inflate it.</a:t>
            </a:r>
          </a:p>
          <a:p/>
          <a:p>
            <a:r>
              <a:t>Why "repeat the last frame" is a serious baseline and not a straw man: half the</a:t>
            </a:r>
          </a:p>
          <a:p>
            <a:r>
              <a:t>town is stopped at any instant because of the traffic signals, so copying the</a:t>
            </a:r>
          </a:p>
          <a:p>
            <a:r>
              <a:t>present is right about half the time. Beating it by 0.35 means the model is</a:t>
            </a:r>
          </a:p>
          <a:p>
            <a:r>
              <a:t>successfully telling the vehicle that will sit still for five seconds from the</a:t>
            </a:r>
          </a:p>
          <a:p>
            <a:r>
              <a:t>one that will travel thirty-six metres — which is the actual job.</a:t>
            </a:r>
          </a:p>
          <a:p/>
          <a:p>
            <a:r>
              <a:t>The "true speeds given" baseline is an oracle. It is handed the ground-truth</a:t>
            </a:r>
          </a:p>
          <a:p>
            <a:r>
              <a:t>velocity that the model never sees, and it still starts losing after about 1.5</a:t>
            </a:r>
          </a:p>
          <a:p>
            <a:r>
              <a:t>seconds, because constant velocity cannot turn a corner, stop at a light, or</a:t>
            </a:r>
          </a:p>
          <a:p>
            <a:r>
              <a:t>join the back of a queue. That crossing point on the chart is the clearest</a:t>
            </a:r>
          </a:p>
          <a:p>
            <a:r>
              <a:t>statement of what the model has actually learned.</a:t>
            </a:r>
          </a:p>
          <a:p/>
          <a:p>
            <a:r>
              <a:t>On hedging: the occupancy-forecasting literature has a known failure mode where</a:t>
            </a:r>
          </a:p>
          <a:p>
            <a:r>
              <a:t>a model wins overlap metrics by predicting far less area than really exists.</a:t>
            </a:r>
          </a:p>
          <a:p>
            <a:r>
              <a:t>PreDiff measures Earthformer's BIAS — predicted mass divided by true mass — at</a:t>
            </a:r>
          </a:p>
          <a:p>
            <a:r>
              <a:t>0.24 at the highest threshold; it predicts a quarter of the area it should. Ours</a:t>
            </a:r>
          </a:p>
          <a:p>
            <a:r>
              <a:t>runs 1.005 at +0.5 s to 1.042 at +5 s, so the overlap is real rather than</a:t>
            </a:r>
          </a:p>
          <a:p>
            <a:r>
              <a:t>purchased by shrinking the forecast. This is exactly what the count-consistency</a:t>
            </a:r>
          </a:p>
          <a:p>
            <a:r>
              <a:t>term in the loss was there to protect.</a:t>
            </a:r>
          </a:p>
          <a:p/>
          <a:p>
            <a:r>
              <a:t>Per-horizon soft IoU: 0.920, 0.895, 0.870, 0.844, 0.817, 0.790, 0.765, 0.740,</a:t>
            </a:r>
          </a:p>
          <a:p>
            <a:r>
              <a:t>0.715, 0.690.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look for.</a:t>
            </a:r>
          </a:p>
          <a:p/>
          <a:p>
            <a:r>
              <a:t>The queues at the junctions are in the right places and roughly the right</a:t>
            </a:r>
          </a:p>
          <a:p>
            <a:r>
              <a:t>lengths — the model has worked out which approaches are stopped and which are</a:t>
            </a:r>
          </a:p>
          <a:p>
            <a:r>
              <a:t>discharging, from the traffic's own behaviour, without ever being told the</a:t>
            </a:r>
          </a:p>
          <a:p>
            <a:r>
              <a:t>signal phase.</a:t>
            </a:r>
          </a:p>
          <a:p/>
          <a:p>
            <a:r>
              <a:t>Vehicles stay on the road. Nothing drifts through a building. That is the static</a:t>
            </a:r>
          </a:p>
          <a:p>
            <a:r>
              <a:t>road-map conditioning doing its job.</a:t>
            </a:r>
          </a:p>
          <a:p/>
          <a:p>
            <a:r>
              <a:t>Where the forecast is softer than the truth — slightly fainter, slightly spread</a:t>
            </a:r>
          </a:p>
          <a:p>
            <a:r>
              <a:t>— it is genuinely uncertain, typically about whether a queue has started moving</a:t>
            </a:r>
          </a:p>
          <a:p>
            <a:r>
              <a:t>yet. That softness is the model being calibrated rather than blurry: the total</a:t>
            </a:r>
          </a:p>
          <a:p>
            <a:r>
              <a:t>predicted mass still matches the true vehicle count to within a few per cent.</a:t>
            </a:r>
          </a:p>
          <a:p/>
          <a:p>
            <a:r>
              <a:t>This is a single frame from the validation video written during training; the</a:t>
            </a:r>
          </a:p>
          <a:p>
            <a:r>
              <a:t>full clip is in the run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statement of what is not done yet.</a:t>
            </a:r>
          </a:p>
          <a:p/>
          <a:p>
            <a:r>
              <a:t>The headline result is a forecast quality number, not a crash-warning number.</a:t>
            </a:r>
          </a:p>
          <a:p>
            <a:r>
              <a:t>The crash-anticipation read-out is implemented and has been run on an earlier,</a:t>
            </a:r>
          </a:p>
          <a:p>
            <a:r>
              <a:t>smaller model, but the version pinned to this checkpoint is still queued, so no</a:t>
            </a:r>
          </a:p>
          <a:p>
            <a:r>
              <a:t>crash-warning figure is quoted here on purpose.</a:t>
            </a:r>
          </a:p>
          <a:p/>
          <a:p>
            <a:r>
              <a:t>Transfer to an unseen town is the biggest open risk. A single town means low</a:t>
            </a:r>
          </a:p>
          <a:p>
            <a:r>
              <a:t>scene diversity; some of the 0.805 is certainly memorised layout. Measuring how</a:t>
            </a:r>
          </a:p>
          <a:p>
            <a:r>
              <a:t>much is the next experiment after the run finishes.</a:t>
            </a:r>
          </a:p>
          <a:p/>
          <a:p>
            <a:r>
              <a:t>The camera-model hand-off is the step that makes this deployable. The forecaster</a:t>
            </a:r>
          </a:p>
          <a:p>
            <a:r>
              <a:t>was deliberately built to consume exactly the camera model's output format, and</a:t>
            </a:r>
          </a:p>
          <a:p>
            <a:r>
              <a:t>it was never given anything the camera model cannot produce — no velocities, no</a:t>
            </a:r>
          </a:p>
          <a:p>
            <a:r>
              <a:t>signal phase — so the swap should be mechanical. Whether accuracy survives the</a:t>
            </a:r>
          </a:p>
          <a:p>
            <a:r>
              <a:t>input noise is an open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Arial"/>
              </a:rPr>
              <a:t>Forecasting town-wide traffic, five seconds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713232" cy="3429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0424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400" b="1">
                <a:solidFill>
                  <a:srgbClr val="0B0B0B"/>
                </a:solidFill>
                <a:latin typeface="Arial"/>
              </a:rPr>
              <a:t>Given the last 5 seconds of a top-down map of where every vehicle in a town is, predict the next 5 seconds.</a:t>
            </a:r>
          </a:p>
          <a:p>
            <a:pPr>
              <a:lnSpc>
                <a:spcPct val="122000"/>
              </a:lnSpc>
              <a:spcBef>
                <a:spcPts val="2200"/>
              </a:spcBef>
            </a:pPr>
            <a:r>
              <a:rPr sz="1900" b="0">
                <a:solidFill>
                  <a:srgbClr val="52514E"/>
                </a:solidFill>
                <a:latin typeface="Arial"/>
              </a:rPr>
              <a:t>The map itself already exists — an upstream model builds it from 141 fixed traffic cameras. This work is the forecast that sits on top of it; it needs no new sensors.</a:t>
            </a:r>
          </a:p>
          <a:p>
            <a:pPr>
              <a:lnSpc>
                <a:spcPct val="122000"/>
              </a:lnSpc>
              <a:spcBef>
                <a:spcPts val="1800"/>
              </a:spcBef>
            </a:pPr>
            <a:r>
              <a:rPr sz="1900" b="0">
                <a:solidFill>
                  <a:srgbClr val="52514E"/>
                </a:solidFill>
                <a:latin typeface="Arial"/>
              </a:rPr>
              <a:t>Crash anticipation, congestion and violation detection are all read-outs of that forecast. So the forecast is what has to be right first, and it is the deliverable.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01675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300" b="0">
                <a:solidFill>
                  <a:srgbClr val="898781"/>
                </a:solidFill>
                <a:latin typeface="Arial"/>
              </a:rPr>
              <a:t>CARLA Town05  ·  439-million-parameter space-time transformer  ·  measured on 53 held-out episodes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Arial"/>
              </a:rPr>
              <a:t>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713232" cy="3429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78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0">
                <a:solidFill>
                  <a:srgbClr val="898781"/>
                </a:solidFill>
                <a:latin typeface="Arial"/>
              </a:rPr>
              <a:t>CARLA Town05 · generated for this project · split by episode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11057839" cy="36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/>
                <a:gridCol w="8817559"/>
              </a:tblGrid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Simulator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CARLA 0.9.15, Town05, 20 Hz synchronous, 176 vehicles per frame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Drivers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normal traffic plus deliberate bad actors — speeding, red-light running, erratic “drunk” weaving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Episodes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355 — 302 for training, 53 held out for validation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318,180 frames at 0.5 s = 44 hours of simulated traffic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Training examples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264,742 windows of 10 past frames → 10 future frames (5 s → 5 s); 9,381 held out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Grid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144 × 160 cells of 4 m — 576 m × 640 m, the whole town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Cell value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the fraction of the cell covered by a vehicle, 0 to 1 — not a yes/no flag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Channels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3 vehicle classes (car, large, two-wheeler) + 6 static map channels (road, lane direction, junctions, speed limit)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Scenario mix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nominal 44% · incident traffic 28% · collision 16% · low-speed contact 12%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3657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B0B0B"/>
                          </a:solidFill>
                          <a:latin typeface="Arial"/>
                        </a:rPr>
                        <a:t>Sparsity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514E"/>
                          </a:solidFill>
                          <a:latin typeface="Arial"/>
                        </a:rPr>
                        <a:t>2.0 % of cells hold a vehicle at any moment</a:t>
                      </a:r>
                    </a:p>
                  </a:txBody>
                  <a:tcPr marL="91440" marR="91440" marT="117043" marB="117043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Arial"/>
              </a:rPr>
              <a:t>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713232" cy="3429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78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0">
                <a:solidFill>
                  <a:srgbClr val="898781"/>
                </a:solidFill>
                <a:latin typeface="Arial"/>
              </a:rPr>
              <a:t>439 million parameters · trained on 2 × H100</a:t>
            </a:r>
          </a:p>
        </p:txBody>
      </p:sp>
      <p:pic>
        <p:nvPicPr>
          <p:cNvPr id="6" name="Picture 5" descr="fig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11057839" cy="236953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041648"/>
          <a:ext cx="11057839" cy="36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720"/>
                <a:gridCol w="9869119"/>
              </a:tblGrid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B0B0B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91440" marR="91440" marT="73152" marB="7315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2514E"/>
                          </a:solidFill>
                          <a:latin typeface="Arial"/>
                        </a:rPr>
                        <a:t>the last 10 frames (5 s) of the grid, plus the static road map — no velocities, no traffic-light state</a:t>
                      </a:r>
                    </a:p>
                  </a:txBody>
                  <a:tcPr marL="91440" marR="91440" marT="73152" marB="7315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B0B0B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91440" marR="91440" marT="73152" marB="7315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2514E"/>
                          </a:solidFill>
                          <a:latin typeface="Arial"/>
                        </a:rPr>
                        <a:t>the next 10 frames (5 s) of occupancy, plus a velocity vector for every cell — decoded in one pass, so no drift</a:t>
                      </a:r>
                    </a:p>
                  </a:txBody>
                  <a:tcPr marL="91440" marR="91440" marT="73152" marB="7315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121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B0B0B"/>
                          </a:solidFill>
                          <a:latin typeface="Arial"/>
                        </a:rPr>
                        <a:t>Loss</a:t>
                      </a:r>
                    </a:p>
                  </a:txBody>
                  <a:tcPr marL="91440" marR="91440" marT="73152" marB="7315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52514E"/>
                          </a:solidFill>
                          <a:latin typeface="Arial"/>
                        </a:rPr>
                        <a:t>soft cross-entropy on coverage  +  flow  +  flow-trace  +  count consistency</a:t>
                      </a:r>
                    </a:p>
                  </a:txBody>
                  <a:tcPr marL="91440" marR="91440" marT="73152" marB="7315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559552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1">
                <a:solidFill>
                  <a:srgbClr val="0B0B0B"/>
                </a:solidFill>
                <a:latin typeface="Arial"/>
              </a:rPr>
              <a:t>Why that loss.  </a:t>
            </a:r>
            <a:r>
              <a:rPr sz="1400" b="0">
                <a:solidFill>
                  <a:srgbClr val="52514E"/>
                </a:solidFill>
                <a:latin typeface="Arial"/>
              </a:rPr>
              <a:t>The target is a fraction, so the loss must be minimised exactly at the truth. Cross-entropy is; Dice and IoU are minimised at 1.0 for a half-covered cell, and focal loss is not proper. Both would distort the vehicle count. The flow-trace term then forces mass to </a:t>
            </a:r>
            <a:r>
              <a:rPr sz="1400" b="0" i="1">
                <a:solidFill>
                  <a:srgbClr val="52514E"/>
                </a:solidFill>
                <a:latin typeface="Arial"/>
              </a:rPr>
              <a:t>move</a:t>
            </a:r>
            <a:r>
              <a:rPr sz="1400" b="0">
                <a:solidFill>
                  <a:srgbClr val="52514E"/>
                </a:solidFill>
                <a:latin typeface="Arial"/>
              </a:rPr>
              <a:t> between frames rather than appear and vanish, and the count term keeps the total honest.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Arial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713232" cy="3429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78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0">
                <a:solidFill>
                  <a:srgbClr val="898781"/>
                </a:solidFill>
                <a:latin typeface="Arial"/>
              </a:rPr>
              <a:t>soft IoU — overlap between the forecast and what actually happened · 53 held-out episodes, 9,381 windows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49424"/>
          <a:ext cx="5532120" cy="36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54680"/>
                <a:gridCol w="1280160"/>
                <a:gridCol w="1097280"/>
              </a:tblGrid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9878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898781"/>
                          </a:solidFill>
                          <a:latin typeface="Arial"/>
                        </a:rPr>
                        <a:t>over the 5 s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898781"/>
                          </a:solidFill>
                          <a:latin typeface="Arial"/>
                        </a:rPr>
                        <a:t>at +5 s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B0B0B"/>
                          </a:solidFill>
                          <a:latin typeface="Arial"/>
                        </a:rPr>
                        <a:t>This model</a:t>
                      </a:r>
                    </a:p>
                  </a:txBody>
                  <a:tcPr marL="91440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A78D6"/>
                          </a:solidFill>
                          <a:latin typeface="Arial"/>
                        </a:rPr>
                        <a:t>0.805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2A78D6"/>
                          </a:solidFill>
                          <a:latin typeface="Arial"/>
                        </a:rPr>
                        <a:t>0.690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Repeat the last frame</a:t>
                      </a:r>
                    </a:p>
                  </a:txBody>
                  <a:tcPr marL="91440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0.450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0.394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Constant velocity, true speeds given</a:t>
                      </a:r>
                    </a:p>
                  </a:txBody>
                  <a:tcPr marL="91440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0.504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0.391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  <a:tr h="7315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Constant velocity, speeds estimated</a:t>
                      </a:r>
                    </a:p>
                  </a:txBody>
                  <a:tcPr marL="91440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0.390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52514E"/>
                          </a:solidFill>
                          <a:latin typeface="Arial"/>
                        </a:rPr>
                        <a:t>0.265</a:t>
                      </a:r>
                    </a:p>
                  </a:txBody>
                  <a:tcPr marL="54864" marR="91440" marT="96012" marB="96012" anchor="ctr">
                    <a:lnB w="9525" cap="flat" cmpd="sng" algn="ctr">
                      <a:solidFill>
                        <a:srgbClr val="E1E0D9"/>
                      </a:solidFill>
                    </a:lnB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682496"/>
            <a:ext cx="5596128" cy="31884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084064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1">
                <a:solidFill>
                  <a:srgbClr val="0B0B0B"/>
                </a:solidFill>
                <a:latin typeface="Arial"/>
              </a:rPr>
              <a:t>The overlap is not bought by hedging.  </a:t>
            </a:r>
            <a:r>
              <a:rPr sz="1400" b="0">
                <a:solidFill>
                  <a:srgbClr val="52514E"/>
                </a:solidFill>
                <a:latin typeface="Arial"/>
              </a:rPr>
              <a:t>Predicted vehicle count stays within 2.4 % of the truth across the whole horizon.</a:t>
            </a:r>
          </a:p>
          <a:p>
            <a:pPr>
              <a:lnSpc>
                <a:spcPct val="122000"/>
              </a:lnSpc>
              <a:spcBef>
                <a:spcPts val="1600"/>
              </a:spcBef>
            </a:pPr>
            <a:r>
              <a:rPr sz="1400" b="1">
                <a:solidFill>
                  <a:srgbClr val="0B0B0B"/>
                </a:solidFill>
                <a:latin typeface="Arial"/>
              </a:rPr>
              <a:t>It holds up where it matters.  </a:t>
            </a:r>
            <a:r>
              <a:rPr sz="1400" b="0">
                <a:solidFill>
                  <a:srgbClr val="52514E"/>
                </a:solidFill>
                <a:latin typeface="Arial"/>
              </a:rPr>
              <a:t>Collision episodes score 0.796 against 0.814 on nominal traffic — two points, not the result.</a:t>
            </a:r>
          </a:p>
          <a:p>
            <a:pPr>
              <a:lnSpc>
                <a:spcPct val="122000"/>
              </a:lnSpc>
              <a:spcBef>
                <a:spcPts val="1600"/>
              </a:spcBef>
            </a:pPr>
            <a:r>
              <a:rPr sz="1200" b="0">
                <a:solidFill>
                  <a:srgbClr val="898781"/>
                </a:solidFill>
                <a:latin typeface="Arial"/>
              </a:rPr>
              <a:t>Measured at step 27,297 of a 32,000-step budget — 1.65 passes over the training set, 35 hours on two H100s.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Arial"/>
              </a:rPr>
              <a:t>Five seconds ahead, on a held-out episode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713232" cy="3429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444752"/>
            <a:ext cx="9052560" cy="4262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25312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</a:pPr>
            <a:r>
              <a:rPr sz="1400" b="0">
                <a:solidFill>
                  <a:srgbClr val="52514E"/>
                </a:solidFill>
                <a:latin typeface="Arial"/>
              </a:rPr>
              <a:t>Blue cars, orange trucks and buses, yellow two-wheelers; grey is the drivable road. Both panels show the whole town at the same instant.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Arial"/>
              </a:rPr>
              <a:t>What we are doing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713232" cy="3429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10789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22000"/>
              </a:lnSpc>
              <a:spcBef>
                <a:spcPts val="0"/>
              </a:spcBef>
            </a:pPr>
            <a:r>
              <a:rPr sz="1700" b="1">
                <a:solidFill>
                  <a:srgbClr val="2A78D6"/>
                </a:solidFill>
                <a:latin typeface="Arial"/>
              </a:rPr>
              <a:t>•  </a:t>
            </a:r>
            <a:r>
              <a:rPr sz="1700" b="1">
                <a:solidFill>
                  <a:srgbClr val="0B0B0B"/>
                </a:solidFill>
                <a:latin typeface="Arial"/>
              </a:rPr>
              <a:t>Finishing the run.  </a:t>
            </a:r>
            <a:r>
              <a:rPr sz="1700" b="0">
                <a:solidFill>
                  <a:srgbClr val="52514E"/>
                </a:solidFill>
                <a:latin typeface="Arial"/>
              </a:rPr>
              <a:t>The numbers on the previous slides come from 1.65 passes over the training data. Training continues to the full budget and the curve has not flattened.</a:t>
            </a:r>
          </a:p>
          <a:p>
            <a:pPr marL="237744" indent="-237744">
              <a:lnSpc>
                <a:spcPct val="122000"/>
              </a:lnSpc>
              <a:spcBef>
                <a:spcPts val="2600"/>
              </a:spcBef>
            </a:pPr>
            <a:r>
              <a:rPr sz="1700" b="1">
                <a:solidFill>
                  <a:srgbClr val="2A78D6"/>
                </a:solidFill>
                <a:latin typeface="Arial"/>
              </a:rPr>
              <a:t>•  </a:t>
            </a:r>
            <a:r>
              <a:rPr sz="1700" b="1">
                <a:solidFill>
                  <a:srgbClr val="0B0B0B"/>
                </a:solidFill>
                <a:latin typeface="Arial"/>
              </a:rPr>
              <a:t>Crash anticipation.  </a:t>
            </a:r>
            <a:r>
              <a:rPr sz="1700" b="0">
                <a:solidFill>
                  <a:srgbClr val="52514E"/>
                </a:solidFill>
                <a:latin typeface="Arial"/>
              </a:rPr>
              <a:t>Read the forecast at the cell where a collision is about to happen and compare it with a matched control site, by lead time. That turns the forecast into a measured number of seconds of warning.</a:t>
            </a:r>
          </a:p>
          <a:p>
            <a:pPr marL="237744" indent="-237744">
              <a:lnSpc>
                <a:spcPct val="122000"/>
              </a:lnSpc>
              <a:spcBef>
                <a:spcPts val="2600"/>
              </a:spcBef>
            </a:pPr>
            <a:r>
              <a:rPr sz="1700" b="1">
                <a:solidFill>
                  <a:srgbClr val="2A78D6"/>
                </a:solidFill>
                <a:latin typeface="Arial"/>
              </a:rPr>
              <a:t>•  </a:t>
            </a:r>
            <a:r>
              <a:rPr sz="1700" b="1">
                <a:solidFill>
                  <a:srgbClr val="0B0B0B"/>
                </a:solidFill>
                <a:latin typeface="Arial"/>
              </a:rPr>
              <a:t>Beyond one town.  </a:t>
            </a:r>
            <a:r>
              <a:rPr sz="1700" b="0">
                <a:solidFill>
                  <a:srgbClr val="52514E"/>
                </a:solidFill>
                <a:latin typeface="Arial"/>
              </a:rPr>
              <a:t>Everything so far is Town05. The test that matters is whether it transfers to a town it was never trained on.</a:t>
            </a:r>
          </a:p>
          <a:p>
            <a:pPr marL="237744" indent="-237744">
              <a:lnSpc>
                <a:spcPct val="122000"/>
              </a:lnSpc>
              <a:spcBef>
                <a:spcPts val="2600"/>
              </a:spcBef>
            </a:pPr>
            <a:r>
              <a:rPr sz="1700" b="1">
                <a:solidFill>
                  <a:srgbClr val="2A78D6"/>
                </a:solidFill>
                <a:latin typeface="Arial"/>
              </a:rPr>
              <a:t>•  </a:t>
            </a:r>
            <a:r>
              <a:rPr sz="1700" b="1">
                <a:solidFill>
                  <a:srgbClr val="0B0B0B"/>
                </a:solidFill>
                <a:latin typeface="Arial"/>
              </a:rPr>
              <a:t>End to end on camera input.  </a:t>
            </a:r>
            <a:r>
              <a:rPr sz="1700" b="0">
                <a:solidFill>
                  <a:srgbClr val="52514E"/>
                </a:solidFill>
                <a:latin typeface="Arial"/>
              </a:rPr>
              <a:t>Drive the forecaster from the upstream camera model's grid rather than the simulator's, and measure what the input noise costs.</a:t>
            </a:r>
          </a:p>
          <a:p>
            <a:pPr marL="237744" indent="-237744">
              <a:lnSpc>
                <a:spcPct val="122000"/>
              </a:lnSpc>
              <a:spcBef>
                <a:spcPts val="2600"/>
              </a:spcBef>
            </a:pPr>
            <a:r>
              <a:rPr sz="1700" b="1">
                <a:solidFill>
                  <a:srgbClr val="2A78D6"/>
                </a:solidFill>
                <a:latin typeface="Arial"/>
              </a:rPr>
              <a:t>•  </a:t>
            </a:r>
            <a:r>
              <a:rPr sz="1700" b="1">
                <a:solidFill>
                  <a:srgbClr val="0B0B0B"/>
                </a:solidFill>
                <a:latin typeface="Arial"/>
              </a:rPr>
              <a:t>Longer horizon, finer grid.  </a:t>
            </a:r>
            <a:r>
              <a:rPr sz="1700" b="0">
                <a:solidFill>
                  <a:srgbClr val="52514E"/>
                </a:solidFill>
                <a:latin typeface="Arial"/>
              </a:rPr>
              <a:t>Five seconds at 4 m is version one. Both are preprocessing constants, not architecture — the raw vehicle states are kept so either can be revised for the cost of a CPU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